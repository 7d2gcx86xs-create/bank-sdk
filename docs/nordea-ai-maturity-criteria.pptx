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92024" y="146304"/>
            <a:ext cx="1179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Tenure: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organisation's progression on its AI journey — from traditional AI/ML with GenAI still in pilot, to years of sustained development that let GenAI scale quickly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92024" y="288036"/>
            <a:ext cx="1179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Reach: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into the value chain AI has been deployed — from internal-only pilots to conversational AI embedded directly in the client interface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92024" y="429768"/>
            <a:ext cx="1179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Capability: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depth of organisational skill and ownership behind AI — from limited in-house expertise to dedicated, scaled AI capability and partnerships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2628" y="608076"/>
            <a:ext cx="100584" cy="10058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566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/ low   |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3956" y="608076"/>
            <a:ext cx="100584" cy="10058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3956" y="608076"/>
            <a:ext cx="100584" cy="10058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3956" y="608076"/>
            <a:ext cx="100584" cy="100584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66544" y="566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  |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15284" y="608076"/>
            <a:ext cx="100584" cy="10058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5284" y="608076"/>
            <a:ext cx="100584" cy="10058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5284" y="608076"/>
            <a:ext cx="100584" cy="100584"/>
          </a:xfrm>
          <a:prstGeom prst="pie">
            <a:avLst>
              <a:gd name="adj1" fmla="val 0"/>
              <a:gd name="adj2" fmla="val 54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5284" y="608076"/>
            <a:ext cx="100584" cy="100584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7872" y="566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  |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96612" y="608076"/>
            <a:ext cx="100584" cy="10058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6612" y="608076"/>
            <a:ext cx="100584" cy="10058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6612" y="608076"/>
            <a:ext cx="100584" cy="100584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6612" y="608076"/>
            <a:ext cx="100584" cy="100584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566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  |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77940" y="608076"/>
            <a:ext cx="100584" cy="10058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7940" y="608076"/>
            <a:ext cx="100584" cy="100584"/>
          </a:xfrm>
          <a:prstGeom prst="ellipse">
            <a:avLst/>
          </a:prstGeom>
          <a:solidFill>
            <a:srgbClr val="000000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0528" y="566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for assessing competitors’ AI maturity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3310128" y="1298448"/>
            <a:ext cx="0" cy="5065776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Ambition level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" y="2057400"/>
            <a:ext cx="0" cy="4114800"/>
          </a:xfrm>
          <a:prstGeom prst="line">
            <a:avLst/>
          </a:prstGeom>
          <a:noFill/>
          <a:ln w="28575">
            <a:solidFill>
              <a:srgbClr val="000080"/>
            </a:solidFill>
            <a:prstDash val="solid"/>
            <a:head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58952" y="1975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ambition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6053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ambition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2278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050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4882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715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/ low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447288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447288" y="1737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Organisation's progression on its AI journey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25012" y="2427732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5012" y="2427732"/>
            <a:ext cx="173736" cy="173736"/>
          </a:xfrm>
          <a:prstGeom prst="ellipse">
            <a:avLst/>
          </a:prstGeom>
          <a:solidFill>
            <a:srgbClr val="000000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9624" y="2240280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13632" y="225856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Decade-plus continuum from ML to GenAI to agents; new use cases scale in weeks, not quarters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25012" y="3259836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5012" y="3259836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5012" y="3259836"/>
            <a:ext cx="173736" cy="173736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5012" y="3259836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9624" y="3072384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913632" y="3090672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sustained build; a platform layer lets new GenAI cases scale without rebuilding each time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525012" y="4082796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5012" y="4082796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5012" y="4082796"/>
            <a:ext cx="173736" cy="173736"/>
          </a:xfrm>
          <a:prstGeom prst="pie">
            <a:avLst>
              <a:gd name="adj1" fmla="val 0"/>
              <a:gd name="adj2" fmla="val 54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25012" y="4082796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9624" y="3895344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913632" y="3913632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out of pilot and into named production use cases, but scaling is still case by case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525012" y="4914900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25012" y="4914900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25012" y="4914900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9624" y="4727448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13632" y="474573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in production; GenAI limited to individual efficiency tools and internal pilots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525012" y="5747004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49624" y="5559552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913632" y="5577840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analytics only; no GenAI beyond experimentation and nothing on the strategy agenda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227064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6227064" y="1737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into the value chain AI has been deployed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04788" y="2427732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04788" y="2427732"/>
            <a:ext cx="173736" cy="173736"/>
          </a:xfrm>
          <a:prstGeom prst="ellipse">
            <a:avLst/>
          </a:prstGeom>
          <a:solidFill>
            <a:srgbClr val="000000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29400" y="2240280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693408" y="225856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inside core revenue and risk flows — credit, advice, payments — reaching the customer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304788" y="3259836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4788" y="3259836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04788" y="3259836"/>
            <a:ext cx="173736" cy="173736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04788" y="3259836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29400" y="3072384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693408" y="3090672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AI live in core markets: conversational agents, in-app personalisation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304788" y="4082796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4788" y="4082796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04788" y="4082796"/>
            <a:ext cx="173736" cy="173736"/>
          </a:xfrm>
          <a:prstGeom prst="pie">
            <a:avLst>
              <a:gd name="adj1" fmla="val 0"/>
              <a:gd name="adj2" fmla="val 54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04788" y="4082796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29400" y="3895344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693408" y="3913632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Employee-facing assistants at scale; customers feel it indirectly, through the adviser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304788" y="4914900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304788" y="4914900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4788" y="4914900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29400" y="4727448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693408" y="474573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only — individual productivity licences and back-office automation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304788" y="5747004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29400" y="5559552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693408" y="5577840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deployed to employees or customers; experimentation with no route to production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900684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006840" y="1737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organisational skill and ownership behind AI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9084564" y="2427732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084564" y="2427732"/>
            <a:ext cx="173736" cy="173736"/>
          </a:xfrm>
          <a:prstGeom prst="ellipse">
            <a:avLst/>
          </a:prstGeom>
          <a:solidFill>
            <a:srgbClr val="000000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409176" y="2240280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473184" y="225856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models or owned compute, a dedicated research function, AI used as an employer brand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9084564" y="3259836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084564" y="3259836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84564" y="3259836"/>
            <a:ext cx="173736" cy="173736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84564" y="3259836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09176" y="3072384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473184" y="3090672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Executive-level owner, in-house platform and governance layer, workforce trained at scale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9084564" y="4082796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84564" y="4082796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84564" y="4082796"/>
            <a:ext cx="173736" cy="173736"/>
          </a:xfrm>
          <a:prstGeom prst="pie">
            <a:avLst>
              <a:gd name="adj1" fmla="val 0"/>
              <a:gd name="adj2" fmla="val 54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84564" y="4082796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09176" y="3895344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473184" y="3913632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AI unit with a group-wide remit, defined governance and a hyperscaler partnership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9084564" y="4914900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84564" y="4914900"/>
            <a:ext cx="173736" cy="173736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084564" y="4914900"/>
            <a:ext cx="173736" cy="173736"/>
          </a:xfrm>
          <a:prstGeom prst="ellipse">
            <a:avLst/>
          </a:prstGeom>
          <a:ln w="1143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09176" y="4727448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473184" y="474573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central data-science team; delivery leans on consultants; no group-wide governance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9084564" y="5747004"/>
            <a:ext cx="173736" cy="17373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409176" y="5559552"/>
            <a:ext cx="2039112" cy="54864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9473184" y="5577840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named owner; capability sits with individual enthusiasts or entirely with vendors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scale: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score consistently, and where scoring goes wrong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thresholds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what is published and dated — never what is plausible for an institution of that size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needs evidence at that level from the last 24 months; older evidence scores one level down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case studies and consultancy write-ups can support Established at most, never Leading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nothing is published, score Not defined / low and record it as a disclosure gap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Ambition versus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ambition and demonstrated maturity separately — the gap between them is the finding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Ambition: strategy language, board-level targets, named horizons, executive sponsorship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Maturity: products live, volumes, adoption rates, quantified outcomes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ambition on thin evidence is a communications position, not a capability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traps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disclosure is not absence of capability — the quietest peer is not the least capable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flagship metrics: a 2016–18 chatbot statistic is not evidence of 2026 maturity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investment figures (technology + AI + advisory) cannot be read as AI spend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and index placements measure communication at least as much as capability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discipline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scores per competitor, one per dimension — resist averaging them into a single number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single strongest piece of evidence behind each score, with its date and source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 on a fixed cycle tied to reporting, not whenever news happens to land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assessors score independently and reconcile; disagreement usually means the evidence is thin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Criteria for assessing competitors' AI maturity</dc:title>
  <dc:subject>PptxGenJS Presentation</dc:subject>
  <dc:creator>PptxGenJS</dc:creator>
  <cp:lastModifiedBy>PptxGenJS</cp:lastModifiedBy>
  <cp:revision>1</cp:revision>
  <dcterms:created xsi:type="dcterms:W3CDTF">2026-09-08T07:21:28Z</dcterms:created>
  <dcterms:modified xsi:type="dcterms:W3CDTF">2026-09-08T07:21:28Z</dcterms:modified>
</cp:coreProperties>
</file>