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Nordic AI peer review: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the following pages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set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Nordic majors under review: OP Financial Group, Danske Bank, DNB, SEB, Swedbank, Handelsbanken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brokers: Nordnet and Avanza — a narrower AI surface by business model, not by ambition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 benchmark: Revolut — not a balance-sheet peer, but competing for the same household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 included as the baseline page for comparison, not as a peer under review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each page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positioning: how the institution frames AI to its markets, its board and its staff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strategy: platforms, models, vendors and architectural choices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limitations: what is missing, unproven, or simply not disclosed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implementation: what is actually in production, with published numbers where they exist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postures in the peer set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builders — OP, Danske, Revolut: assistants on both sides of the house, or own models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scalers — DNB, SEB, Swedbank: a decade of conversational AI with genAI layered on top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abstainers — Handelsbanken by conviction; Nordnet and Avanza by business model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sharpest divide is not model access — it is whether AI reaches the customer or stops at the desktop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and caveats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sources only: company pages, press releases, vendor case studies and trade press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disclosure is reported as absence of disclosure, never as absence of capability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(boost.ai) and consultancy (PA Consulting, ADVISORI) material is secondary and labelled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as at September 2026; bracketed numbers refer to the source pages at the end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Financial Group: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“Mobile first” to “AI first” strategy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framing is explicit: the strategy “used to be about Mobile first, but now it's about AI first” [2]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ambition to be the forerunner in AI and technology among Finnish financial service providers [1]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Hyper-personalisation is the goal — AI and data used to predict customer needs, not just answer them [2]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defend: 1.7m active OP-mobile users and roughly 700m logins a year [2]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partnership (2023); target of at least 70% of applications on public cloud by end-2027 [2]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Aina built on the newest models and designed to combine customer data across separate services [1]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Quantum and AI Research Centre (QARC): quantum computing plus machine learning for finance [1]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interaction and gesture recognition named as core technology-vision elements [2]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published adoption, resolution or productivity metrics for either OP Aina or OP Maiju [1][2]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interaction bets such as face payment were trialled but never reached full deployment [2]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migration is still in flight — the 70% public-cloud target is 2027, not today [2]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research is a long-horizon bet with no disclosed near-term P&amp;L linkage [1]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Aina: 24/7 personal AI assistant for customers, in production [1]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Maiju: group-wide generative AI service helping employees carry out tasks faster and more easily [1]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deployed on both sides of the house — customer interface and internal productivity [1][2]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capability used explicitly as an employer-brand and recruitment proposition [1]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Danske Bank: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deepest internal genAI estate, thinnest customer surface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investment sits inside the Forward '28 strategy for digital platforms [5]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employee-first: the stated aim is to help colleagues, and through them customers [3][5]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AI Officer and Head of GenAI appointed June 2025 — AI given senior, named ownership [3]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all Danske Bank employees have been through generative AI training [4]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DanskeGPT (2023): a sealed internal deployment of OpenAI GPT-4 meeting the bank's security requirements [5]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from one chatbot into an internal assistant platform plus agent-based solutions [4]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Copilot and GitHub Copilot both run as proofs of concept [5]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“Adoption Cluster”: five identical cross-functional squads with shared CI/CD, security and governance [4]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flagship customer-facing generative AI assistant disclosed — value is captured internally [4]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worked on for six months, with production possibly another six months away [4]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assessment: nobody has really cracked agentic AI at enterprise level yet [4]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is reported in users and use cases, not in cost, income or efficiency effect [4]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generative AI solutions live, including DanskeGPT, DanskeAssist, GovDoc Assistant and HR Assistant [4]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16,000 employees use one or more internal genAI solutions every month [4]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AI use cases in production, delivered through the five adoption squads [4]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solutions continuously tested and launched through the same pipeline [4]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DNB: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longest-running conversational AI programme in the Nordics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treated as a core service channel rather than an experiment — continuous since 2017 [8]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chat-first approach applied internally to employees as well as to customers [8]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emphasis placed on ethics, security, confidentiality and data protection in all AI work [6]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positioned to improve customer experience and streamline process, not to remove humans [7]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boost.ai platform: five virtual agents across customer- and employee-facing use cases [8]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architecture — generative AI layered onto a robust NLU engine rather than replacing it [8]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Aino uses generative AI and language models to answer customer queries [6]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interactions routed to human colleagues inside the same chat window [7]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dependence on a single external vendor for the whole conversational layer [7][8]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is in chat and advisory support; no disclosed genAI in credit, pricing or risk decisions [6][7]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sustained human investment — 15 full-time AI trainers to maintain quality [8]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and accuracy rates are published, but no financial value is [6][7][8]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Aino automates over 50% of all incoming chat and is the primary channel for website visitors [6][7]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50–60% of all chat interactions resolved automatically within the first year of deployment [7]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Juno: adviser bot for customer service and retail staff, 5,000+ daily users, ~80% accuracy [8]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Hugo answers HR queries around the clock; Fix handles inbound IT service-desk requests [8]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strengthen advice, not to replace the adviser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 jury framing: AI used to shape how advice is delivered while preserving its human core [9]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mover — Aida launched in late 2016, well before the current generative AI cycle [10]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aim from the outset: free humans to work on more complex tasks [10]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management chosen as the showcase domain rather than mass-market service [9]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Aida: cognitive agent with NLP and contextual awareness, trained on insurance, lending and savings [10]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Sensaia: AI that turns client meetings into structured insight — themes, sentiment and action points [9]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Advisers get access to insight from previous conversations, not only the meeting in front of them [9]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pattern is domain-by-domain rather than one bank-wide assistant [9][10]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Aida's public record is largely 2016–2020; little recent disclosure on any genAI refresh [10]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Sensaia is confined to Private Wealth Management &amp; Family Office, not the retail bank [9]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published resolution rates, adoption numbers or time-saved figures for either tool [9][10]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disclosed proprietary model or foundation-model strategy [9]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 in production on seb.se, serving both customer chat and internal IT support [10]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Sensaia fully implemented across the Private Wealth Management &amp; Family Office business area [9]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documentation automated so advisers spend more of the hour in client interaction [9]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Best Private Bank for Use of AI at the PWM Wealth Tech Awards, April 2026 [9]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Swedbank: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governance-first scaling, customer layer still being rebuilt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vision: generative AI solutions usable across business units securely and compliantly [13]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framed around three promises — banking that is simpler, safer and more personal [11]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placed ahead of speed throughout public communication [11]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in AI Sweden signals a cross-industry rather than a go-it-alone approach [13]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guidelines aligned to the EU AI Act and GDPR govern all AI development [11]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AI Accelerator acts as the central capability and data-science unit [12]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adversarial networks used to create synthetic fraud patterns for detection training [13]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Akur8 partnership signed in March to strengthen the insurance pricing process [13]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dates from 2014–16 and no modern replacement is yet in production [14]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conversational banking is described as being built, not as launched [12]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named internal genAI assistant, and no adoption or productivity figures disclosed [11][12]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AI page carries no metrics, dates or named tools at all [11]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answers basic banking questions from a base of roughly 250 answers (as reported 2016–18) [14]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~30,000 virtual conversations a month, with around 8 of every 10 questions answered [14]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production for fraud detection and for streamlining internal processes [11]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roles being recruited for conversational banking and genAI content [12]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Handelsbanken: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“Augmented Intelligence” — deliberate restraint as strategy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Internally calls it Augmented Intelligence: technology augments human intelligence, it does not replace it [15]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Digital Officer openly cautious about AI services emerging as part of a hype cycle [15]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relationships combined with digital tools framed as the source of advantage [15][16]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Decentralised, risk-conscious and operationally conservative by design [15]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built on IBM Watson technology for more efficient investment-advice compliance [15]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and Automation workstream covering agentic process automation, ML and genAI [16]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RPA and machine-learning pipelines built across on-premises and cloud platforms [16]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technology treated as a catalyst to challenge processes, not as an end in itself [15]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customer-facing AI assistant disclosed in any home market [15]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disclosure is sparse: no bank-published AI page, no metrics, no named customer tools [15][16]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case is stated qualitatively — no savings, productivity or revenue target published [15]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Trials run in several areas, but few are described as having been scaled [16]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Watson-based compliance tool deployed to absorb a 40%+ rise in investment-advice meetings [15]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and ML pipelines run as shared infrastructure for AI initiatives across the bank [16]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applied where documentation volume, not customer interaction, is the bottleneck [15]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filter before deployment: what creates real value for customers and employees [16]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Nordnet: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investor content, not as a service layer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used to sharpen the investing experience rather than to run the customer relationship [17]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is platform-and-content led: help investors read the market faster [17][18]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AI capability is bought in and resold rather than built in-house (AI Alpha Lab) [18]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community made workable by AI translation — a genuinely Nordic-scale play [17]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summaries of the latest news on each holding, delivered inside the app [17]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Upgraded AI translation model powering Nordnet Social across language borders [17]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Alpha Lab model portfolios: a probability-based model over large- and mega-cap stocks [18]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complete AI-calculated portfolios delivered each month through a subscription service [18]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customer-service AI assistant and no internal generative AI programme disclosed [17][18]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Alpha Lab is a third-party model surfaced on the platform, not Nordnet's own [18]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performance covers a short window — roughly two years to November 2025 [18]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feature of the product, not a stated operating-model transformation [17]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news summaries and improved AI translation both went live in the app during 2025 [17]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Alpha Lab sold as a paid analysis service alongside the trading platform [18]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model return of 45.6% against 39.5% for the market over the same period [18]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positioned as an engagement and retention feature for active investors [17][18]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algorithmic, not AI — and explicit about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generative AI assistant and no public AI strategy announced to date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newest flagship is framed as algorithmic factor investing, not as artificial intelligence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competitive angle is price and transparency rather than intelligence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ambition is to challenge the major banks' discretionary management market [19]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 Sigma analyses millions of data points to construct customised equity portfolios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described as factor investing — research-based and rules-driven, not machine learning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Portfolios built on direct share ownership with automatic annual rebalancing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preferences on market exposure and sustainability drive portfolio construction [19]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machine learning nor AI is claimed anywhere in the Sigma announcement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disclosed customer AI assistant, internal genAI tooling or AI governance framework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 is gated at a SEK 1m minimum — a Private Banking product, not a mass-market one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publicly documented AI footprint in the entire peer set [19]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 Sigma launched on 31 August 2026 for Private Banking clients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fee of 0.55–0.85% a year, held at 0.55% through 2026 as a launch offer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at roughly half the market rate for traditional discretionary management [19]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portfolio transparency delivered through the app and web platform [19]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peer in this set building its own models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intelligence embedded directly into the core financial engine, developed in-house [23]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market data treated as a compounding global advantage rather than a local asset [23]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Nordic expansion aimed at traditional banks' household deposits, not only at fintech rivals [24]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as a bank in the EU: Revolut Bank UAB, licensed in Lithuania and ECB-supervised [25]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 Research launched as a dedicated AI division inside a wider AI department [22]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PRAGMA: proprietary model decoding financial trends, real-time risk and product recommendations [22][23]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Self-reinforcing loop — customer data feeds the models, the models sharpen fraud, risk and prediction [23]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models built internally by the financial crime team rather than bought from a vendor [20]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AIR, the in-app assistant, is currently available only in the UK [21]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mortgage or corporate credit book in the Nordics — AI is not applied to those risk decisions [24]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model claims are recent (August 2026) and largely unproven in public [22][23]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Marketing-led disclosure makes like-for-like comparison with bank reporting difficult [21][22]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scam detection live since February 2024; ~30% reduction in investment-related card fraud losses [20]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Rita, the troubleshooting assistant, resolves over 20% of customer support requests [21]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models review close to one billion transactions every month [21]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2m Nordic users today, against a stated target of 3m by the end of 2026 [24]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 (baseline):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widest customer-facing AI estate in the peer 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Technology, data and AI placed at the centre of the 2030 strategy announced in November 2025 [28]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expected to turn local processes into Nordic-wide ones and to modernise legacy systems [28]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1,500 roles expected to go over two years as the effect of AI lands [28]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stated as a leadership theme, with named ownership for AI adoption [27]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9632" y="960120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00584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strategy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289304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built on the boost.ai platform, with customer-facing versions in each core market [26]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AI agents in production spanning customer service, HR and second-line support [26]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operate in each market's local language, with English in some countries [26]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Librarian consolidates equity research, transcripts and estimates for institutional clients [27]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limitations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Nova's foundation is 2017-era conversational AI, extended over time rather than rebuilt [26]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Norwegian Nova handles ~50% fully automatically — well below the 90%+ in-scope headline [26]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workforce-reduction framing makes AI a cost story as much as a customer story [28]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proprietary model or foundation-model programme disclosed, unlike Revolut [27]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3493008"/>
            <a:ext cx="55321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538728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implementation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822192"/>
            <a:ext cx="5257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live in Sweden, Denmark, Norway and Finland, serving 9m+ private customers [26]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In-scope resolution above 90% across customer-facing agents; Finland 95%, Sweden 91–95% [26]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rolled out internally to roughly 10,000 employees [28]</a:t>
            </a:r>
            <a:endParaRPr lang="en-US" sz="9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News Summary personalises market news from holdings, account activity and watchlists [28]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of 2) — all figures as published by the institution or named outlet, accessed September 2026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0120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Pohjola — “Artificial intelligence at OP Pohjola”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op.fi/en/about-op-pohjola/career/employer/ai-at-op-pohjola/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07592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Media — “AI in OP Financial Group: customers set the direction”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op-media.fi/en/ai-in-op-financial-group/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655064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Danske Bank — “Danske Bank further strengthens Generative AI focus with new leadership appointment” (16 Jun 2025)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danskebank.com/news-and-insights/news-archive/news/2025/16062025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02536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19751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Danske Bank — “Adopting AI in regulated industries: what worked and what didn't” (2026)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danskebank.lt/en/career/blog/2026/adopting-ai-in-regulated-industries-what-worked-and-what-didint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50008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232257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Danske Bank — “Danske Bank increases investments in generative AI” (14 Mar 2024)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danskebank.com/news-and-insights/news-archive/news/2024/14032024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97480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2670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boost.ai — “How Norway's biggest bank automated 51% of its online chat traffic with AI”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boost.ai/case-studies/how-norways-biggest-bank-automated-51-of-its-online-chat-traffic-with-ai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44952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017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boost.ai — “How DNB transformed customer service operations… with conversational AI”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boost.ai/case-studies/how-dnb-transformed-customer-service-operations-and-enhanced-human-agent-efficiency-with-conversational-ai/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392424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3364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boost.ai — “Supercharging second line support at DNB” (Juno, Hugo, Fix)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boost.ai/blog/revolutionizing-banking-cx-leveraging-conversational-ai-to-supercharge-second-line-support-at-dnb/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739896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37124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 — “Award-winning AI frees up time for proactive client interaction” (Sensaia, Apr 2026)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sebgroup.com/press/news/2026/award-winning-ai-frees-up-time-for-proactive-client-interaction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087368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" y="405993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PYMNTS — “SEB launches voice-activated assistant Aida to improve customer service”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pymnts.com/news/merchant-innovation/2017/swedish-bank-boosts-customer-service-with-ai-robot/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434840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44074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Swedbank — “How Swedbank uses AI”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swedbank.com/about-swedbank/how-swedbank-uses-ai.html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82312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859536" y="4754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Swedbank Careers — “Content Domain Lead – Conversational Banking &amp; GenAI”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jobs.swedbank.com/jobs/25489-content-domain-lead-conversational-banking-genai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129784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859536" y="5102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Weekly — “Nordic banks pursue AI in battle with digital competitors”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computerweekly.com/news/366592058/Nordic-banks-pursue-AI-in-battle-with-digital-competitors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5477256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" y="54498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Nuance — “Nina virtual assistant brings human touch to Swedbank customer service” (2016)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news.nuance.com/2016-04-25-Nina-Virtual-Assistant-from-Nuance-Brings-Human-Touch-to-Swedbank-Customer-Service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6291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51052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1996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</a:t>
            </a:r>
            <a:pPr indent="0" marL="0">
              <a:buNone/>
            </a:pPr>
            <a:r>
              <a:rPr lang="en-US" sz="15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of 2) — all figures as published by the institution or named outlet, accessed September 2026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0120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Consulting — “Balancing relationships and technology at Handelsbanken”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paconsulting.com/insights/balancing-relationships-and-technology-at-handelsbanken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07592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Handelsbanken plc Careers — “Information Security Consultant – AI” (Jun 2026)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jobs.handelsbanken.co.uk/jobs/job/Information-Security-Consultant-AI/2573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655064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Nordnet — “Nyt i 2025: de største nyheder og features hos Nordnet”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nordnet.dk/blog/nyt-i-2025-de-stoerste-nyheder-og-features-hos-nordnet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02536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19751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Nordnet — “AI Alpha Lab” subscription portfolios and performance blog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nordnet.dk/aktier/analysetjenester/ai-alpha-lab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50008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232257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 — “Avanza lanserar algoritmstyrd aktieförvaltning” (Avanza Sigma, 31 Aug 2026)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investors.avanza.se/media/press/2026/avanza-utmanar-storbankernas-miljardmarknad-lanserar-algoritmstyrd-aktieforvaltning-till-halva-priset/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97480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2670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 — “Revolut launches AI feature to protect customers from card scams”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revolut.com/en-NL/news/revolut_launches_ai_feature_to_protect_customers_from_card_scams_and_break_the_scammers_spell/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44952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017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ADVISORI — “Revolut's AI strategy + roadmap: key takeaways” (AIR, Rita, transaction screening)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advisori.de/en/blog/revolut-s-ai-strategy-roadmap-key-takeways-learnings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392424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3364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 — “Launch of dedicated AI research division: Revolut Research” (Aug 2026)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revolut.com/news/revolut_announces_launch_of_dedicated_ai_research_division_revolut_research/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739896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37124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Futures — “Revolut debuts AI research unit to power in-house banking models” (PRAGMA)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fintechfutures.com/ai-in-fintech/revolut-launches-self-learning-intelligence-engine-to-accelerate-ai-deployment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087368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" y="405993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— “Revolut faces off with Klarna in Nordic fintech push for 3 million users” (Nov 2025)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bloomberg.com/news/articles/2025-11-06/revolut-faces-off-with-klarna-in-nordic-fintech-push-for-3-million-users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434840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44074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of Lithuania — “Banking licence granted to Revolut Bank UAB”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lb.lt/en/news/banking-licence-granted-to-revolut-bank-uab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82312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859536" y="4754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boost.ai — “Nordea employs comprehensive conversational AI strategy to scale customer service”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boost.ai/case-studies/nordea-employs-comprehensive-conversational-ai-strategy-to-scale-customer-service/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129784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859536" y="5102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 — “Tech &amp; AI” news hub (Research Librarian, AI adoption leadership)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nordea.com/en/news-topics/tech-ai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5477256"/>
            <a:ext cx="31089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" y="54498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Weekly — “Nordea to slash 1,500 jobs as AI impact grows”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computerweekly.com/news/366640379/Nordea-to-slash-1500-jobs-as-AI-impact-grows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Nordic banks - AI capability peer review</dc:title>
  <dc:subject>PptxGenJS Presentation</dc:subject>
  <dc:creator>PptxGenJS</dc:creator>
  <cp:lastModifiedBy>PptxGenJS</cp:lastModifiedBy>
  <cp:revision>1</cp:revision>
  <dcterms:created xsi:type="dcterms:W3CDTF">2026-09-04T07:39:53Z</dcterms:created>
  <dcterms:modified xsi:type="dcterms:W3CDTF">2026-09-04T07:39:53Z</dcterms:modified>
</cp:coreProperties>
</file>