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47472" y="62910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0" y="6510528"/>
            <a:ext cx="3959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199632"/>
            <a:ext cx="1764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Nordea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Nordic/Baltic AI peer comparison: </a:t>
            </a:r>
            <a:pPr indent="0" marL="0">
              <a:buNone/>
            </a:pPr>
            <a:r>
              <a:rPr lang="en-US" sz="150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read the following pages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57784" y="1005840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 set and baseline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85216" y="1289304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Nordea opens the set as the baseline reference point — this is a comparison, not a scored ranking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Nordic/Baltic peers: OP Pohjola, Danske Bank, DNB, Swedbank, Handelsbanken, SEB, Nordnet, Avanza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Revolut is carried over from the earlier draft as a challenger benchmark — it sits outside the peer report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focus is 2024–2026 disclosure; forward statements run to whatever horizon each company states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199632" y="960120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0216" y="1005840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each box contains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327648" y="1289304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positioning: steering from leadership, capability and culture building, brand and thought leadership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strategy: cloud and partner choices, own AI build, internal capability signals, tooling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Gaps and limitations: what is missing, unproven or risky — key people, ROI opacity, cost pressure, claims without data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implementation: what is live today — products, internal vs external, agents, processes, volumes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3493008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7784" y="3538728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labels used on every bullet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85216" y="3822192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[C] Confirmed — the company's own primary source: report, investor material, press release or official executive quote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[R] Reported — credible third-party media or analyst coverage, not confirmed by the company itself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[I] Inferred — the researchers' own inference drawn from indirect evidence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[ND] Not disclosed — searched for and not found in public sources; an absence of disclosure, not of capability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9632" y="3493008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0216" y="3538728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and caveats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3822192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maturity scores or tiers are assigned; factual differences in disclosed scale are stated plainly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was not accessible to the research pass — talent signals come from careers pages and news, and are directional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are listed per institution on the final three pages; the underlying peer report carries the full lists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as at September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47472" y="62910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0" y="6510528"/>
            <a:ext cx="3959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199632"/>
            <a:ext cx="1764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Nordea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Nordea (baseline): </a:t>
            </a:r>
            <a:pPr indent="0" marL="0">
              <a:buNone/>
            </a:pPr>
            <a:r>
              <a:rPr lang="en-US" sz="150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as a quantified 2030 cost and scale lever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57784" y="1005840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positioning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85216" y="1289304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 Vang-Jensen frames AI as “profound business transformation” — rethinking entire processes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 strategy (CMD, 5 Nov 2025): “Scale — accelerated by technology, data and AI”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narrative arc from ROI scepticism (Dec 2024) to core strategic pillar to “profound transformation”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Thought leadership via the Aalto “Future Interfaces Lab” on AI and human-machine trust, May 2026 [C]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199632" y="960120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0216" y="1005840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strategy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327648" y="1289304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Bedrock as core GenAI infrastructure, deliberately modular and model-agnostic; Claude prominent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boost.ai bought for conversational AI; orchestration and governance layer built in-house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proprietary foundation model — the build sits at orchestration, governance and application level [I]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“Governance as a feature, not a barrier”: monitoring, access control and auditability in every layer [C]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3493008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7784" y="3538728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Gaps and limitations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85216" y="3822192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AI-specific investment figure — AI is legible only through cost take-out and headcount targets [ND]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Chief AI Officer or Chief Data Officer at Group Leadership Team level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named AML AI/ML tool; the AML narrative is dominated by the USD 35m NYDFS fine of Aug 2024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public EU AI Act or DORA disclosure, despite live AI-governance job postings referencing both [ND]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9632" y="3493008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0216" y="3538728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implementation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3822192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Nova plus 12 boost.ai agents across FI/SE/DK; ~220,000 conversations a month, 76% of chat bot-handled [C/R]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GenAI platform scaled from prototype to ~10,000 employee users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RPA since 2015 with 360+ robotised processes, layered with OCR and ML from 2018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Quantified targets: 90% mortgage-promise automation by 2030; ≥EUR 600m gross cost take-out by 2030 [C]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47472" y="62910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0" y="6510528"/>
            <a:ext cx="3959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199632"/>
            <a:ext cx="1764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Nordea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Pohjola: </a:t>
            </a:r>
            <a:pPr indent="0" marL="0">
              <a:buNone/>
            </a:pPr>
            <a:r>
              <a:rPr lang="en-US" sz="150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“AI first” replaced “Mobile first” in autumn 2025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57784" y="1005840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positioning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85216" y="1289304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lifted to the core of group strategy in autumn 2025, replacing the “Mobile first” slogan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 Ritakallio is the group's most visible AI champion — and retires 1 July 2027 with no named successor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Culture at scale: 8,000+ of ~14,000 staff AI-trained by April 2025; over half hold Copilot licences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Thought leadership: co-authored “Unlocking AI value in Finnish organisations” with Accenture and Noren [C]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199632" y="960120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0216" y="1005840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strategy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327648" y="1289304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Azure primary since Aug 2023, in Finnish datacentres, chosen for data residency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of ≥70% of applications on public cloud by end-2027, framed as the precondition for scaled AI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its own tools — OP Aina, OP Maiju, dozens of task agents — on undisclosed third-party models [C/ND]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model: central agents for regulated processes plus employee-built lightweight agents [C]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3493008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7784" y="3538728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Gaps and limitations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85216" y="3822192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disaggregated AI spend; EUR 356m total 2024 group investment (~7.5% of income) is the only proxy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Unreconciled stack ambiguity — career material suggests AWS/Databricks alongside Azure-exclusive framing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Nearly all substantive coverage is OP's own, Finnish-language, or OP-co-sponsored research [I]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Key-person risk: the “AI first” narrative is tied personally to a CEO leaving in mid-2027 [I]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9632" y="3493008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0216" y="3538728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implementation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3822192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Aina, customer-facing personal AI assistant, live since June 2024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Maiju drafts roughly 23,000 property listings a year for OP Koti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used “extensively” in customer service, digital services, insurance claims, financial crime and staff support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Financial-crime function grown to 600 people with AI-assisted transaction screening [C/R]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47472" y="62910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0" y="6510528"/>
            <a:ext cx="3959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199632"/>
            <a:ext cx="1764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Nordea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Danske Bank: </a:t>
            </a:r>
            <a:pPr indent="0" marL="0">
              <a:buNone/>
            </a:pPr>
            <a:r>
              <a:rPr lang="en-US" sz="150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peer with a group Chief AI Officer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57784" y="1005840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positioning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85216" y="1289304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Kasper Tjørntved Davidsen appointed Chief AI Officer and Head of GenAI, June 2025 — unique in the peer set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 Egeriis frames AI as a 10–15 year commitment: “the return doesn't come right away”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Head of AI and an AI Centre of Excellence in Belfast under Dr Fiona Browne, Jan 2026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Culture at scale: 90% of employees have completed generative AI training [C]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199632" y="960120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0216" y="1005840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strategy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327648" y="1289304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is the dominant hyperscaler; extended June 2026 to Amazon Bedrock and Bedrock AgentCore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DanskeGPT built on an internally hardened GPT-4-class OpenAI model — a vendor relationship, not a partnership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“AI City”: 50+ shared, governed capabilities acting as the internal MLOps and governance layer [C/R]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365 and GitHub Copilot in use across 3,000+ developers, with “immediately visible” ROI [R]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3493008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7784" y="3538728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Gaps and limitations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85216" y="3822192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AI-only budget line — DKK ~4.5bn a year covers technology, AI and advisory together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metrics still rest on a 2016–17 Teradata case study with no 2024–26 refresh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worked on for six months, with production possibly another six months away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~680 roles cut across two 2026 rounds citing automation — cost pressure runs alongside the AI spend [R]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9632" y="3493008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0216" y="3538728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implementation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3822192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generative AI solutions live: DanskeGPT, DanskeAssist, GovDoc Assistant, HR Assistant and others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16,000 employees use an internal GenAI solution every month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~40 live “Tactical AI” use cases embedded in business processes, alongside broad “Enterprise AI” access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of ~DKK 2bn annual AI and technology productivity benefit by 2028 [C]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47472" y="62910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0" y="6510528"/>
            <a:ext cx="3959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199632"/>
            <a:ext cx="1764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Nordea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DNB: </a:t>
            </a:r>
            <a:pPr indent="0" marL="0">
              <a:buNone/>
            </a:pPr>
            <a:r>
              <a:rPr lang="en-US" sz="150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“AI ready, but not necessarily AI first”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57784" y="1005840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positioning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85216" y="1289304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 framing is deliberately measured: “We should be AI ready, but not necessarily AI first”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treats AI as a recurring governance topic; Annual Report 2025 formalises it as a strategic theme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 Braathen publicly downplays AI job-loss fears, stressing trust, curiosity and human judgement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positioning: Norway launched its “AI Norway” framework at DNB's own AI lab, March 2025 [C]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199632" y="960120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0216" y="1005840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strategy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327648" y="1289304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“Radical AI” lab — six people reporting weekly to group executive management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“RAI Gateway” routes OpenAI and Anthropic traffic through DNB's own European infrastructure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Azure with near-universal M365 Copilot; roughly half of staff hold extended AI licences [C/R]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the frontier model, build the routing and control layer — explicitly model-agnostic [R]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3493008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7784" y="3538728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Gaps and limitations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85216" y="3822192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AI investment figure or horizon anywhere; only a qualitative “considerable investment in competence”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Disputed identity of the internal AI lab's executive sponsor; no confirmed CAIO or CDO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richest account of the RAI lab rests on one trade-press source, uncorroborated on DNB's IR channel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AI-specific award or index placement found; no Sweden or Baltic AI activity disclosed [ND]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9632" y="3493008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0216" y="3538728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implementation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3822192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Aino automates over 50% of chat traffic and ~20–22% of total customer-service volume, 1m+ interactions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virtual agents (Aino, Juno, Hugo, Fix) supported by 15 full-time AI trainers [C/R]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Fraud: NOK 3.3bn of attempted AI-enabled fraud in 2025 (+30% YoY), of which NOK 3bn was stopped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Small-corporate lending decisions automated in as little as 38 seconds; RAI Code piloted with ~350 users [C/R]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47472" y="62910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0" y="6510528"/>
            <a:ext cx="3959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199632"/>
            <a:ext cx="1764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Nordea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Swedbank: </a:t>
            </a:r>
            <a:pPr indent="0" marL="0">
              <a:buNone/>
            </a:pPr>
            <a:r>
              <a:rPr lang="en-US" sz="150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leadership “embedded, not elevated”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57784" y="1005840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positioning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85216" y="1289304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Swedish trade press frames the posture as “embedded, not elevated” — a Head of Group AI Accelerator, no C-suite AI seat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named inside the “Increased efficiency” pillar of Swedbank 15/27, not as a standalone strategy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 Henriksson on the three-year outlook: “I expect that we will be less people working... in the bank”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Joined AI Sweden as a formal partner, June 2025, framing shared responsibility for AI risk [C]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199632" y="960120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0216" y="1005840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strategy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327648" y="1289304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Azure appears exclusive; Azure Databricks is the core of the Enterprise Analytics Platform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internal AI tool announced July 2026 for rollout to all employees, on a “vendor agnostic architecture”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target use cases: call summary, KYC processes and software development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stack built on a Hopsworks feature store with NVIDIA GPUs for GAN-based detection [C]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3493008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7784" y="3538728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Gaps and limitations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85216" y="3822192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CFO explicitly declines to disclose AI spend and says there are no plans to disclose it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confirmed OpenAI, Anthropic, Google or Mistral relationship, and no confirmed Copilot deployment [ND]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SEK 1.3bn of 2026 restructuring cost bundles AI with other transformation — cost pressure without AI clarity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AI-specific award received in 2024–26; Swedbank appears as sponsor rather than recipient [ND]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9632" y="3493008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0216" y="3538728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implementation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3822192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and AML are the best-evidenced use case: graph-based laundering detection over datasets up to 40TB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automation via Pegasystems: consumer loans 65% instant response, mortgages 65% faster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Nina chatbot (2014, AI-enhanced 2016): ~30–40k conversations a month, ~78–80% first-contact resolution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Customer-facing genAI launches concentrate in Lithuania — AIVA guidance assistant, DriveX claims [R]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47472" y="62910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0" y="6510528"/>
            <a:ext cx="3959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199632"/>
            <a:ext cx="1764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Nordea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Handelsbanken: </a:t>
            </a:r>
            <a:pPr indent="0" marL="0">
              <a:buNone/>
            </a:pPr>
            <a:r>
              <a:rPr lang="en-US" sz="150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quietest peer, by apparent design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57784" y="1005840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positioning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85216" y="1289304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Capital Markets Day found for 2024–26; strategy is communicated through quarterly results only [I]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 Green's Q4 2025 call is the clearest AI statement found — exploratory: “examining the potential”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distinctive brand framing, “Augmented Intelligence”, is real but dates to roughly 2018–19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Decentralised branch-autonomy culture is the organising principle any AI rollout has to fit [C]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199632" y="960120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0216" y="1005840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strategy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327648" y="1289304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confirmed cloud-AI partnership and no confirmed LLM vendor — a genuine absence of signal [ND]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UiPath confirmed for agentic process automation in the UK “Efficiency and Automation” programme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Tietoevry renewal for Norway core banking and financial crime (2024); Denodo for Handelsbanken Fonder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suggests building in-house on standard infrastructure rather than headline “buy” partnerships [I]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3493008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7784" y="3538728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Gaps and limitations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85216" y="3822192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AI investment figure — folded into general IT development spend of ~SEK 3–3.5bn a year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named customer-facing AI product found in any market [ND]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public AI governance, EU AI Act, DORA or model-risk disclosure [ND]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confirmed CAIO or CDO, and an unresolved discrepancy over who leads group IT [R]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9632" y="3493008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0216" y="3538728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implementation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3822192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AMLGentex federated-learning AML research with AI Sweden and Swedbank — the most verifiable initiative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 programme combines UiPath agentic automation with predictive and generative AI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“Code assistance” named alongside AML as an AI use case; tool and vendor unidentified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IBM Watson NLP compliance tool absorbed a 40%+ rise in advice meetings — figures conflict, dated [R]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47472" y="62910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0" y="6510528"/>
            <a:ext cx="3959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199632"/>
            <a:ext cx="1764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Nordea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SEB: </a:t>
            </a:r>
            <a:pPr indent="0" marL="0">
              <a:buNone/>
            </a:pPr>
            <a:r>
              <a:rPr lang="en-US" sz="150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rapid adoption to disciplined scaling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57784" y="1005840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positioning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85216" y="1289304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CFO Malmer: 2025 was “rapid adoption and learning”, 2026 is “disciplined scaling” with token governance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 Ahlström is the de facto AI sponsor — no CAIO or group CDO; the model is embedded by business line [C/R]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caution: SEBx head Moch rules out autonomous AI decisions “for the foreseeable future”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ethics policy since 2021 commits SEB to report its use of data sources, models and AI [C]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199632" y="960120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0216" y="1005840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strategy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327648" y="1289304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Multicloud: Google Cloud strategic since 2021, Microsoft Azure for security and identity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Co-founded Sferical AI with AstraZeneca, Ericsson, Saab and Wallenberg — 1,000+ NVIDIA GB300 GPUs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access is indirect via secure hyperscaler hosting; no direct OpenAI, Anthropic or Mistral contract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applications built in-house: Sensaia, a mortgage churn model, transaction monitoring [C]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3493008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7784" y="3538728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Gaps and limitations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85216" y="3822192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AI figure disclosed is a bundled “AI, regulatory &amp; resilience +SEK 500m” line in the 2026 cost bridge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quantified AI cost savings and no numeric AI target for 2027, 2028 or 2030 [ND]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Aida chatbot reportedly discontinued, with no confirmed generative-AI customer chatbot successor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Baltic “Virtual Advisor” figures date from 2019 with no 2024–26 update found [C]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9632" y="3493008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0216" y="3538728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implementation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3822192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Sensaia fully implemented in Private Wealth Management &amp; Family Office; PWM award for AI use, April 2026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~65 AI use cases in production as of Q1 2025, likened by the CFO to the 1990s internet-banking shift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365 rolled out broadly during 2025; GitHub Copilot for developers with “promising efficiency gains”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FX desk has used AI for over three years for customer-need identification, pricing and hedging risk [C]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47472" y="62910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0" y="6510528"/>
            <a:ext cx="3959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199632"/>
            <a:ext cx="1764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Nordea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Nordnet: </a:t>
            </a:r>
            <a:pPr indent="0" marL="0">
              <a:buNone/>
            </a:pPr>
            <a:r>
              <a:rPr lang="en-US" sz="150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quantified engineering-productivity claim in the set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57784" y="1005840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positioning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85216" y="1289304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 Järborg names AI a top-three strategic priority, explicitly to support “nonlinear scale”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April 2026 CEO transition was framed around AI in both internal processes and the customer offering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Deliberate anti-lock-in stance: “you don't want to tie yourself up too long” to one technology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CAIO, Head of AI or CDO — AI sits embedded across the co-CTO and Data &amp; Insights functions [C/I]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199632" y="960120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0216" y="1005840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strategy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327648" y="1289304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single-cloud; the NordnetX platform runs ~800 microservices, hosted primarily in Finland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Claude Code as the engineering tool, with a negotiated token-volume discount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used inside the data pipeline, with generative AI productionised directly in dbt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Product-layer AI built in-house: company insights, translation, personalisation [C]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3493008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7784" y="3538728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Gaps and limitations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85216" y="3822192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AI investment figure; the CEO states AI “is probably just costing us more rather than saving us cost”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Alpha Lab is third-party content distribution — Nordnet's own disclaimer denies any involvement in it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confirmed AI use in fraud, AML or credit risk at all [ND]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published AI governance framework and no EU AI Act or DORA statement [ND]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9632" y="3493008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0216" y="3538728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implementation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3822192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of newly written code agentically co-authored with Claude Code by June 2026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per pull request down 14% between December 2025 and June 2026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Conversational AI chatbot launched in Sweden and Norway in Q2 2026, extending to Denmark and Finland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company insights extract structured financial data from filings across 700+ instruments [R]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47472" y="62910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0" y="6510528"/>
            <a:ext cx="3959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199632"/>
            <a:ext cx="1764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Nordea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Avanza: </a:t>
            </a:r>
            <a:pPr indent="0" marL="0">
              <a:buNone/>
            </a:pPr>
            <a:r>
              <a:rPr lang="en-US" sz="150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buying the capability, and avoiding the AI label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57784" y="1005840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positioning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85216" y="1289304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Avoids the label: its own Sigma release says “algorithm-driven”, while media coverage called it AI [C/R]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 Unger's Annual Report letter references “internal AI tools” without quantifying them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Chief Data Officer or Head of AI; CTO Fredrik Broman (2024) owns the cloud journey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Denmark launch (2027) described with “AI-led product development”, Copenhagen beta under way [R]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199632" y="960120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0216" y="1005840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strategy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327648" y="1289304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only; a data mesh on Kafka, BigQuery, dbt and Looker with a custom data registry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Bought the algorithmic capability: Sigmastocks acquired Dec 2024 for SEK 21.1m, closed July 2025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Third-party analytics integrated rather than built — Simply Wall St add-on at SEK 99 a month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central “AI platform” engineering team being built in 2026 to lead AI across Avanza tech [C]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3493008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7784" y="3538728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Gaps and limitations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85216" y="3822192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AI investment figure at any horizon; cloud migration and transformation costs are not AI-labelled [ND]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named foundation-model vendor anywhere in Avanza's disclosures [ND]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“Felicia” chatbot claim is unverified and may conflate with a real named Avanza employee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disclosed AI use in fraud, AML, credit risk, HR, compliance, marketing or developer tooling [ND]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9632" y="3493008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0216" y="3538728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implementation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3822192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Avanza Sigma launched 31 Aug 2026: SEK 1m minimum, 0.55–0.85% fee, at roughly half the market rate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summaries of quarterly reports, analyst recommendations, target prices and forward estimates, 2025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Simply Wall St gives AI-generated analysis of 120,000+ companies plus earnings email summaries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AI tools referenced for digitalising manual processes — unspecified and unquantified [C]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47472" y="62910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0" y="6510528"/>
            <a:ext cx="3959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199632"/>
            <a:ext cx="1764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Nordea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Revolut: </a:t>
            </a:r>
            <a:pPr indent="0" marL="0">
              <a:buNone/>
            </a:pPr>
            <a:r>
              <a:rPr lang="en-US" sz="150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challenger benchmark, outside the peer report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57784" y="1005840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positioning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85216" y="1289304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covered by the peer report — carried over from the earlier draft on separate web sourcing [I]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Positions native, in-house intelligence embedded in the core financial engine as the differentiator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Nordic expansion aimed at traditional banks' household deposits, not only at fintech rivals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Regulated as an EU bank: Revolut Bank UAB, licensed in Lithuania and ECB-supervised [C]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199632" y="960120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0216" y="1005840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strategy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327648" y="1289304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Revolut Research launched August 2026 as a dedicated AI division inside a wider AI department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PRAGMA: proprietary model for financial trends, real-time risk and product recommendations [C/R]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models built internally by the financial crime team rather than bought from a vendor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institution in this deck claiming a proprietary model rather than an application layer [I]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3493008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7784" y="3538728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Gaps and limitations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85216" y="3822192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AIR, the in-app assistant, is available only in the UK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mortgage or corporate credit book in the Nordics, so AI is not applied to those risk decisions [I]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Proprietary model claims are recent (August 2026) and largely unproven in public [I]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Marketing-led disclosure is not comparable like-for-like with regulated bank reporting [I]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9632" y="3493008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0216" y="3538728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implementation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3822192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scam detection live since February 2024; ~30% reduction in investment-related card fraud losses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Rita, the troubleshooting assistant, resolves over 20% of customer support requests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models review close to one billion transactions every month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Around 2m Nordic users today against a stated target of 3m by the end of 2026 [R]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47472" y="62910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0" y="6510528"/>
            <a:ext cx="3959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199632"/>
            <a:ext cx="1764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Nordea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Cross-peer patterns: </a:t>
            </a:r>
            <a:pPr indent="0" marL="0">
              <a:buNone/>
            </a:pPr>
            <a:r>
              <a:rPr lang="en-US" sz="150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comparison shows across all nine institutions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57784" y="1005840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no peer discloses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85216" y="1289304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one of the nine publishes a standalone AI investment figure separable from broader technology spend [C/I]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numbers exist they are bundled: Nordea EUR 600m, Danske DKK 4.5bn, OP EUR 356m, SEB SEK 500m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peer has a detailed public EU AI Act or DORA statement tied to its own AI systems [ND]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peer discloses an AI-specific model risk management framework [ND]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199632" y="960120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0216" y="1005840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and model camps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327648" y="1289304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AWS/Bedrock camp: Nordea (Claude prominent) and Danske (OpenAI GPT-4-class base for DanskeGPT) [C/R]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Azure camp: OP (Finnish data residency), Swedbank (apparently exclusive), DNB (Copilot, identity)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camp: SEB as one leg of a multicloud, Nordnet and Avanza apparently exclusive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Handelsbanken is the outlier — no confirmed cloud-AI or LLM vendor at all [ND]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3493008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7784" y="3538728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Organisation and leadership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85216" y="3822192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Chief AI Officer exists at only one of the nine institutions: Danske Bank, June 2025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boost.ai recurs as the default Nordic chatbot vendor — Nordea, DNB and SEB's Baltic operations [C/R]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Nordea, Danske and Swedbank all tie job cuts publicly to AI while hiring AI specialists in parallel [C/R]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bank that cites AI in headcount reduction is simultaneously running AI-specialist recruitment [C/R]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9632" y="3493008"/>
            <a:ext cx="55321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0216" y="3538728"/>
            <a:ext cx="5330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peers differ most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3822192"/>
            <a:ext cx="52578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Nordnet's 60%-of-new-code Claude Code metric is the most concrete productivity figure in the whole set [R]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SEB's Sferical AI is the only direct compute-ownership bet; every other peer rents hyperscaler capacity [C]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Wealth management is pursued three ways: build (SEB), acquire (Avanza), augment advisers (Nordea) [C/I]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and AML is the best-evidenced use case at DNB, Swedbank, SEB and Handelsbanken [C/R]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47472" y="62910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0" y="6510528"/>
            <a:ext cx="3959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199632"/>
            <a:ext cx="1764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Nordea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</a:t>
            </a:r>
            <a:pPr indent="0" marL="0">
              <a:buNone/>
            </a:pPr>
            <a:r>
              <a:rPr lang="en-US" sz="150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 of 3) — company primary sources unless otherwise stated, as at September 2026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932688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Nordea (baseline)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16128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Capital Markets Day 2025 package and 2030 strategy release, 5 Nov 2025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nordea.com/en/doc/cmd2025-full-package-final.pdf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476756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“Nordea to book restructuring costs to execute its 2030 strategy”, 17 Mar 2026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nordea.com/en/press/2026-03-17/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179222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“Frank Vang-Jensen: we want to position Nordea as the winner also beyond 2030”, 3 Jun 2026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nordea.com/en/news/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210769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“Nordea and Aalto University to explore the future of AI…”, ~21 May 2026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nordea.com/en/news/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24231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Hyperight, “Banking on AI: from POC to 10,000 users”, 5 Dec 2025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hyperight.com/banking-on-ai-nordea-poc-to-10000-users/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273862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boost.ai, Nordea conversational AI case study (Nova, 12 agents)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boost.ai/case-studies/nordea-employs-comprehensive-conversational-ai-strategy-to-scale-customer-service/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145536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Pohjola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374136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Half-year Financial Report H1 2026, GlobeNewswire, 23 Jul 2026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globenewswire.com/news-release/2026/07/23/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368960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Automaatioväylä, CTO Kasimir Hirn on “AI first”, 10 Feb 2026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automaatiovayla.fi/artikkelit/op-kehittaa-asiakaspalveluaan-tekoalyn-avulla/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00507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Ritakallio, Aalto Finance Alumni Quarterly (OP Aina launch), 8 Aug 2025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alumni.aalto.finance/quarterly/2025/q2/senior-guest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43205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Microsoft News Center Finland, OP Azure migration, 22 Aug 2023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news.microsoft.com/fi-fi/2023/08/22/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63600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Osuustoiminta-lehti, “OP Ryhmä investoi pilveen ja tekoälyyn”, 22 Jan 2025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otlehti.fi/2025/01/22/op-ryhma-investoi-pilveen-ja-tekoalyyn/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4951476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OP / Accenture / Noren, “Unlocking AI value in Finnish organisations”, 2026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mb.cision.com/Public/13697/4355209/827a9e9cb7b6e913.pdf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6199632" y="932688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Danske Bank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245352" y="116128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Company Announcement No. 22/2026 (technology and AI as core enablers), 30 Apr 2026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danskebank.com/news-and-insights/news-archive/company-announcements/2026/ca30042026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6245352" y="1476756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“Danske Bank further strengthens Generative AI focus…” (CAIO appointment), 16 Jun 2025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danskebank.com/news-and-insights/news-archive/news/2025/16062025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6245352" y="179222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Danske Bank / AWS agreement extension (Bedrock, AgentCore), 30 Jun 2026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danskebank.com/news-and-insights/news-archive/news/2026/30062026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6245352" y="210769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Evident Insights, interview with Richard Davis and Kasper Tjørntved Davidsen, 13 May 2026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evidentinsights.com/bankingbrief/denmarks-ai-bank-shot-an-interview-with-richard-davis-and-kasper-tjrntved-davidsen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6245352" y="24231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“Danske Bank appoints Fiona Browne as its first head of AI”, 9 Jan 2026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danskebank.co.uk/about-us/news-and-insights/2026/danske-appoints-first-head-of-ai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245352" y="273862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“Danske Bank increases investments in generative AI” (DanskeGPT), 14 Mar 2024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danskebank.com/news-and-insights/news-archive/news/2024/14032024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199632" y="3145536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DNB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245352" y="3374136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DNB Group Annual Report 2025, 11 Mar 2026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ir.dnb.no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6245352" y="368960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BankShift.no investigative feature on the “Radical AI” lab, 6 Mar 2026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bankshift.no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6245352" y="400507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boost.ai, DNB case studies (Aino, Juno, Hugo, Fix)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boost.ai/case-studies/ai-chatbot-banking/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245352" y="43205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DNB Capital Markets Day 2024 presentation, 19 Nov 2024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ir.dnb.no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6245352" y="463600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Regjeringen.no, “AI Norway” framework launched at DNB's AI lab, 26 Mar 2025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regjeringen.no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47472" y="62910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0" y="6510528"/>
            <a:ext cx="3959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199632"/>
            <a:ext cx="1764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Nordea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</a:t>
            </a:r>
            <a:pPr indent="0" marL="0">
              <a:buNone/>
            </a:pPr>
            <a:r>
              <a:rPr lang="en-US" sz="150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 of 3)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932688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Swedbank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16128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Q2 2026 earnings call transcript (CEO and CFO on AI), 17 Jul 2026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swedbank.com/investor-relations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476756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Investor Day 2025, “Swedbank 15/27”, 4 Jun 2025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swedbank.com/newsroom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179222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“How Swedbank uses AI”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swedbank.com/about-swedbank/how-swedbank-uses-ai.html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210769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AI Sweden partnership announcement (Markus Reimegård), 19 Jun 2025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ai.se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24231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Realtid, “Europas banker lyfter AI till toppen – Sverige väljer en annan väg”, 12 Aug 2026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realtid.se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273862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Hopsworks / NVIDIA and Swedbank, GAN-based fraud detection technical blog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hopsworks.ai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145536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Svenska Handelsbanken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374136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Q4 2025 / FY2025 earnings call, CEO Michael Green on AI, 4 Feb 2026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handelsbanken.com/en/investor-relations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368960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Q2 2026 earnings commentary on IT development spend and AI use cases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handelsbanken.com/en/investor-relations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00507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AI Sweden, AMLGentex federated-learning AML project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ai.se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43205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jobs.handelsbanken.co.uk, UK “Efficiency and Automation” AI postings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jobs.handelsbanken.co.uk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6199632" y="932688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245352" y="116128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Annual accounts and Q4 2025 results, CEO letter on AI, 29 Jan 2026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sebgroup.com/press/press-releases/2026/sebs-annual-accounts-and-results-for-the-fourth-quarter-2025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6245352" y="1476756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“Award-winning AI frees up time for proactive client interaction” (Sensaia), 24 Apr 2026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sebgroup.com/press/news/2026/award-winning-ai-frees-up-time-for-proactive-client-interaction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6245352" y="179222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“SEB co-founds new Sferical AI” (NVIDIA GB300 joint venture), 22 Aug 2025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sebgroup.com/press/press-releases/2025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6245352" y="210769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“Essential to be forward-leaning on AI, but caution is needed”, 12 Feb 2025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sebgroup.com/press/news/2025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6245352" y="24231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Investing.com, SEB Q2 2026 earnings call transcript, 15 Jul 2026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investing.com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6245352" y="273862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SEB customer data ethics policy, 28 Jun 2021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sebgroup.com/press/press-releases/2021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6199632" y="3145536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Nordnet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245352" y="3374136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Investing.com, Nordnet Q2 2026 earnings call transcript (Claude Code, chatbot), ~17 Jul 2026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investing.com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245352" y="368960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“Rasmus Järborg assumes the role as CEO of Nordnet”, 1 Apr 2026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nordnetab.com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6245352" y="400507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Google Cloud customer case study, Nordnet (NordnetX platform)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cloud.google.com/customers/nordnet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6245352" y="43205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Nordnet Tech (Medium), “Productionise genAI directly in dbt”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medium.com/nordnet-tech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6245352" y="463600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Nordnet Denmark blog, “Nyt i 2025: de største nyheder og features”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nordnet.dk/blog/nyt-i-2025-de-stoerste-nyheder-og-features-hos-nordnet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47472" y="62910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0" y="6510528"/>
            <a:ext cx="3959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9966960" y="6199632"/>
            <a:ext cx="1764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Nordea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</a:t>
            </a:r>
            <a:pPr indent="0" marL="0">
              <a:buNone/>
            </a:pPr>
            <a:r>
              <a:rPr lang="en-US" sz="150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 of 3)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932688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Avanza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16128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“Avanza lanserar algoritmstyrd aktieförvaltning” (Avanza Sigma), 31 Aug 2026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investors.avanza.se/media/press/2026/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476756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“Avanza har Sveriges nöjdaste sparare – för 16:e året i rad” (AI summaries), 1 Dec 2025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investors.avanza.se/media/press/2025/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179222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Sigmastocks acquisition announcement, 20 Dec 2024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investors.avanza.se/media/press/2024/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210769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Avanza careers, “Engineering Manager till vår nya AI-plattform”, 22 May 2026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career.avanza.se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24231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Annual and Sustainability Report 2025, 13 Mar 2026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investors.avanza.se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273862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Google Cloud customer case study, Avanza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cloud.google.com/customers/avanza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145536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Revolut (outside the peer report)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374136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“Revolut launches AI feature to protect customers from card scams”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revolut.com/news/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368960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“Launch of dedicated AI research division: Revolut Research”, Aug 2026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revolut.com/news/revolut_announces_launch_of_dedicated_ai_research_division_revolut_research/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00507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FinTech Futures, “Revolut debuts AI research unit…” (PRAGMA)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fintechfutures.com/ai-in-fintech/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43205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Bloomberg, “Revolut faces off with Klarna in Nordic fintech push for 3 million users”, Nov 2025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bloomberg.com/news/articles/2025-11-06/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63600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Bank of Lithuania, “Banking licence granted to Revolut Bank UAB”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lb.lt/en/news/banking-licence-granted-to-revolut-bank-uab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6199632" y="932688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Underlying research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245352" y="1207008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“Nordic/Baltic Peer Comparison: AI Activities vs. Nordea”, prepared for Nordea, September 2026. Every claim in that report carries its own [Confirmed] / [Reported] / [Inferred] label and a per-company source list; the labels on these pages are carried over unchanged, with [ND] added where the report records that a fact was searched for and not found.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Revolut is not part of that report. Its page is sourced separately from public web research and is flagged as such wherever it appears.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Nordic/Baltic AI peer comparison vs Nordea</dc:title>
  <dc:subject>PptxGenJS Presentation</dc:subject>
  <dc:creator>PptxGenJS</dc:creator>
  <cp:lastModifiedBy>PptxGenJS</cp:lastModifiedBy>
  <cp:revision>1</cp:revision>
  <dcterms:created xsi:type="dcterms:W3CDTF">2026-09-04T07:50:45Z</dcterms:created>
  <dcterms:modified xsi:type="dcterms:W3CDTF">2026-09-04T07:50:45Z</dcterms:modified>
</cp:coreProperties>
</file>